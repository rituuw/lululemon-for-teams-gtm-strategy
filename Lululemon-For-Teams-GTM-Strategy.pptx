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0aqhXH2UiUoLWMsVBwid9rVdm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document/d/1zPLv486aNWnDbsnbOySdLQs7R7kt8VLP/edit" TargetMode="External"/><Relationship Id="rId4" Type="http://schemas.openxmlformats.org/officeDocument/2006/relationships/hyperlink" Target="https://drive.google.com/drive/folders/18WU_bKST6P2c4IAWz2OVENw4PU1cj2R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drive/folders/18WU_bKST6P2c4IAWz2OVENw4PU1cj2RH" TargetMode="External"/><Relationship Id="rId4" Type="http://schemas.openxmlformats.org/officeDocument/2006/relationships/hyperlink" Target="https://drive.google.com/drive/folders/18WU_bKST6P2c4IAWz2OVENw4PU1cj2RH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rive.google.com/drive/folders/18WU_bKST6P2c4IAWz2OVENw4PU1cj2RH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8WU_bKST6P2c4IAWz2OVENw4PU1cj2RH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drive/folders/18WU_bKST6P2c4IAWz2OVENw4PU1cj2RH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4526280"/>
            <a:ext cx="914400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" y="868680"/>
            <a:ext cx="109728" cy="109728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77240" y="84124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GO-TO-MARKET STRATEGY  ·  V1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" y="13716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Lululemon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94360" y="21945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For Teams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94360" y="3200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A native group ordering platform for running clubs and fitness communities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94360" y="39319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88888"/>
                </a:solidFill>
              </a:rPr>
              <a:t>Owner- Ritu Bansal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94360" y="413308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North America Launch  ·  June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0" y="4114800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What we will cover today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09728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88720" y="11155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88720" y="135331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opportunity, the bet, the 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60934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88720" y="162763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GTM Strategy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88720" y="186537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Target segment, motion, and core deliverable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212140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88720" y="213969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Competitive Intelligence &amp; Strategic Bet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188720" y="237744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Where we win, where we lose, and what we are betting 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263347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88720" y="26517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Positioning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188720" y="28895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How we communicate what we are, to whom, and why it matters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314553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88720" y="316382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Messaging Framework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88720" y="340156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Audience-specific value propositions and proof points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365760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88720" y="367588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Pricing Recommendation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188720" y="39136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Goal, model, packaging structure, and validation plan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416966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88720" y="4187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Reflections &amp; Next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188720" y="442569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Insights from the process and what comes next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2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The opportunity, the bet, and what we are asking for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20040" y="1051560"/>
            <a:ext cx="2724912" cy="3520440"/>
          </a:xfrm>
          <a:prstGeom prst="roundRect">
            <a:avLst>
              <a:gd fmla="val 1678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20040" y="1051560"/>
            <a:ext cx="2724912" cy="7315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57200" y="1207008"/>
            <a:ext cx="24505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" y="192024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THE OPPORTUNITY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02920" y="2139696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revenue gap, not a product gap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2834640"/>
            <a:ext cx="2359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Organisers are already attempting group orders via WhatsApp, Venmo, and personal accounts. The demand exists — the product just cannot serve 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172968" y="1051560"/>
            <a:ext cx="2724912" cy="3520440"/>
          </a:xfrm>
          <a:prstGeom prst="roundRect">
            <a:avLst>
              <a:gd fmla="val 1678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3172968" y="1051560"/>
            <a:ext cx="2724912" cy="7315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310128" y="1207008"/>
            <a:ext cx="24505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355848" y="192024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THE BET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355848" y="2139696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 individual loyalty to community-level buying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355848" y="2834640"/>
            <a:ext cx="2359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Existing Lululemon customers already love the brand. For Teams removes the only friction stopping them from buying as a community.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025896" y="1051560"/>
            <a:ext cx="2724912" cy="3520440"/>
          </a:xfrm>
          <a:prstGeom prst="roundRect">
            <a:avLst>
              <a:gd fmla="val 1678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025896" y="1051560"/>
            <a:ext cx="2724912" cy="7315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163056" y="1207008"/>
            <a:ext cx="24505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208776" y="192024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THE 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208776" y="2139696"/>
            <a:ext cx="23591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Align on PLG launch and pricing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208776" y="2834640"/>
            <a:ext cx="2359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Launch For Teams natively on lululemon.com via PLG. Commission Conjoint Analysis to validate the bulk discount structure before final commitment.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3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3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3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0" y="2286000"/>
            <a:ext cx="365760" cy="54864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48640" y="2331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GTM Strategy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4360" y="3200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Target segment, motion, and the core deliverable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GTM Strategy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Hybrid motion targeting an existing customer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365760" y="1051560"/>
            <a:ext cx="54864" cy="91440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548640" y="108813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GTM MOTION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128930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PLG Primary · SLG Secondary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8640" y="163677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Existing customers self-discover For Teams on lululemon.com. SLG activates to acquire net new organisers.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5760" y="2084832"/>
            <a:ext cx="54864" cy="91440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48640" y="2121408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PRIMARY SEGMENT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232257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Running Clubs &amp; Fitness Communities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26700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Highest brand affinity, established kit culture, reachable via the existing ambassador and studio network.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5760" y="3118104"/>
            <a:ext cx="54864" cy="91440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48640" y="315468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WHY THIS SEGMENT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33558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Demand already exists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37033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Workaround behaviour — WhatsApp, Venmo, personal accounts — proves the customer is already trying to buy.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5029200" y="1051560"/>
            <a:ext cx="3794760" cy="1481328"/>
          </a:xfrm>
          <a:prstGeom prst="roundRect">
            <a:avLst>
              <a:gd fmla="val 3086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5212080" y="1517904"/>
            <a:ext cx="548640" cy="548640"/>
          </a:xfrm>
          <a:prstGeom prst="roundRect">
            <a:avLst>
              <a:gd fmla="val 8333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212080" y="15179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897880" y="1216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ATTACHED DOCUMENT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5897880" y="13807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GTM One-Pager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897880" y="165506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Strategic inputs, positioning, key messages, channels, and success 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029200" y="2651760"/>
            <a:ext cx="3794760" cy="1481328"/>
          </a:xfrm>
          <a:prstGeom prst="roundRect">
            <a:avLst>
              <a:gd fmla="val 3086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212080" y="3118104"/>
            <a:ext cx="548640" cy="548640"/>
          </a:xfrm>
          <a:prstGeom prst="roundRect">
            <a:avLst>
              <a:gd fmla="val 8333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5212080" y="311810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897880" y="28163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ATTACHED DOCUMENT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897880" y="29809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GTM Infographic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897880" y="3255264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One-page visual summary of the strategy, how it works, and success metrics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02920" y="42519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Rationale: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organiser is already a Lululemon customer. For Teams does not create demand — it captures demand currently lost to workarounds and competitors.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5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5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5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Intelligence &amp; Strategic Bet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Where we win, where we lose, and what we are betting 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65760" y="1051560"/>
            <a:ext cx="8412480" cy="1280160"/>
          </a:xfrm>
          <a:prstGeom prst="roundRect">
            <a:avLst>
              <a:gd fmla="val 3571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548640" y="11704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THE STRATEGIC BET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1389888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I am betting that </a:t>
            </a: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Lululemon wins by converting individual brand loyalty into community-level purchasing</a:t>
            </a:r>
            <a:r>
              <a:rPr b="0" i="0" lang="en-US" sz="115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through organisers in running clubs and fitness communities — because demand already exists, workaround behaviour proves it, and no competitor can replicate a native Lululemon brand experience at the group level.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65760" y="2468880"/>
            <a:ext cx="4160520" cy="150876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65760" y="2468880"/>
            <a:ext cx="4160520" cy="64008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502920" y="259689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WHY WE WIN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2920" y="27980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product itself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02920" y="3108960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555555"/>
                </a:solidFill>
              </a:rPr>
              <a:t>Custom Ink places a logo on third-party apparel. Lululemon for Teams places a logo on Lululemon. Members choose apparel they already want to wear—now available with their community’s identity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617720" y="2468880"/>
            <a:ext cx="4160520" cy="150876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617720" y="2468880"/>
            <a:ext cx="4160520" cy="640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754880" y="2596896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BIGGEST THREAT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754880" y="27980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Inaction, not a competitor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754880" y="3108960"/>
            <a:ext cx="3931920" cy="804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Frustration → workaround → habit → competitor. The demand is proven. The customer is waiting. Execution speed is the only variable.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fmla="val 5882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48640" y="4229100"/>
            <a:ext cx="548640" cy="548640"/>
          </a:xfrm>
          <a:prstGeom prst="roundRect">
            <a:avLst>
              <a:gd fmla="val 8333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48640" y="42291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234440" y="4279392"/>
            <a:ext cx="7360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ATTACHED DOCUMENT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>
            <a:hlinkClick r:id="rId3"/>
          </p:cNvPr>
          <p:cNvSpPr/>
          <p:nvPr/>
        </p:nvSpPr>
        <p:spPr>
          <a:xfrm>
            <a:off x="1234446" y="4375398"/>
            <a:ext cx="416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Competitive Battlecard — CustomInk vs Lululemon For Teams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558994" y="4302288"/>
            <a:ext cx="312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Full battlecard: landscape, battlefield, win the deal, and handle the hard moments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6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Positioning Statement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How we communicate what we are, to whom, and why it matters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65760" y="1051560"/>
            <a:ext cx="8412480" cy="25603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502920" y="10698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YOUR ONE-LINER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65760" y="1307592"/>
            <a:ext cx="8412480" cy="868680"/>
          </a:xfrm>
          <a:prstGeom prst="roundRect">
            <a:avLst>
              <a:gd fmla="val 5263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Lululemon For Teams is a native group ordering feature on lululemon.com — set up once, share a link, members select sizes and pay individually, and bulk pricing unlocks automatically.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5760" y="2331720"/>
            <a:ext cx="8412480" cy="256032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02920" y="235000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YOUR POSITIONING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65760" y="2587752"/>
            <a:ext cx="8412480" cy="141732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48640" y="2697480"/>
            <a:ext cx="8046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55555"/>
                </a:solidFill>
              </a:rPr>
              <a:t>For running club organizers and fitness community leaders who need frictionless group kit ordering, Lululemon for Teams is a native group-ordering experience on lululemon.com that supports shared orders, individual member checkout, and automatic volume pricing. Unlike Custom Ink and other intermediaries, it delivers authentic Lululemon product through a direct, end-to-end brand experience.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60" y="4069080"/>
            <a:ext cx="8412480" cy="777240"/>
          </a:xfrm>
          <a:prstGeom prst="roundRect">
            <a:avLst>
              <a:gd fmla="val 5882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548640" y="4183380"/>
            <a:ext cx="548640" cy="548640"/>
          </a:xfrm>
          <a:prstGeom prst="roundRect">
            <a:avLst>
              <a:gd fmla="val 8333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548640" y="41833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234440" y="4233672"/>
            <a:ext cx="7360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ATTACHED DOCUMENT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221256" y="4288568"/>
            <a:ext cx="2685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Positioning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030246" y="4297713"/>
            <a:ext cx="4480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Complete positioning template: For, Who Want/Need, We Offer, Because Of, Despite, Better Than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7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7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7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Messaging Framework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Audience-specific value propositions and proof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5760" y="1051560"/>
            <a:ext cx="4114800" cy="210312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65760" y="1051560"/>
            <a:ext cx="4114800" cy="2926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02920" y="10789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PILLAR 1  ·  THE ORGANISER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02920" y="14447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🎯  VALUE PROP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02920" y="16459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 up a group order once. Members handle the rest.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>
            <a:off x="502920" y="2212848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/>
          <p:nvPr/>
        </p:nvSpPr>
        <p:spPr>
          <a:xfrm>
            <a:off x="502920" y="228600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🏆  KEY CAPABILITIES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02920" y="24688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Order setup, member self-serve checkout, tracking dashboard, automated reminders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663440" y="1051560"/>
            <a:ext cx="4114800" cy="2103120"/>
          </a:xfrm>
          <a:prstGeom prst="roundRect">
            <a:avLst>
              <a:gd fmla="val 2174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663440" y="1051560"/>
            <a:ext cx="4114800" cy="2926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800600" y="107899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PILLAR 2  ·  THE MEMBER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800600" y="14447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🎯  VALUE PROP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800600" y="16459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 your size, pay your share, get authentic Lululemon kit.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8"/>
          <p:cNvCxnSpPr/>
          <p:nvPr/>
        </p:nvCxnSpPr>
        <p:spPr>
          <a:xfrm>
            <a:off x="4800600" y="2212848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8"/>
          <p:cNvSpPr/>
          <p:nvPr/>
        </p:nvSpPr>
        <p:spPr>
          <a:xfrm>
            <a:off x="4800600" y="228600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🏆  KEY CAPABILITIES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4800600" y="24688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Self-serve flow, individual checkout, automatic pricing, direct notifications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65760" y="3291840"/>
            <a:ext cx="8412480" cy="1508760"/>
          </a:xfrm>
          <a:prstGeom prst="roundRect">
            <a:avLst>
              <a:gd fmla="val 3030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48640" y="3771900"/>
            <a:ext cx="548640" cy="548640"/>
          </a:xfrm>
          <a:prstGeom prst="roundRect">
            <a:avLst>
              <a:gd fmla="val 8333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48640" y="3771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234440" y="3456432"/>
            <a:ext cx="7360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ATTACHED DOCUMENT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1234440" y="3621024"/>
            <a:ext cx="7360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AI-Generated Visual Asset — In-App Notification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234440" y="3895344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Lululemon.com mockup: "Ordering for a group? Skip the WhatsApp thread — set up a team order in minutes — members pay individually and bulk pricing unlocks automatically."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8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8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8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Recommendation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Goal, model, packaging, and validation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65760" y="1051560"/>
            <a:ext cx="2724912" cy="2011680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65760" y="1051560"/>
            <a:ext cx="2724912" cy="7315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530352" y="1207008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PRICING GOAL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30352" y="1417320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Maximise revenue from a known audience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30352" y="2194560"/>
            <a:ext cx="23957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Capture group order revenue currently being lost to workarounds and competitors.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218688" y="1051560"/>
            <a:ext cx="2724912" cy="2011680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3218688" y="1051560"/>
            <a:ext cx="2724912" cy="7315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3383280" y="1207008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PRICING MODEL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383280" y="1417320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Transaction-based, per group order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383280" y="2194560"/>
            <a:ext cx="23957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 platform fee. No subscription. Revenue from per-unit pricing with customisation embedded.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071616" y="1051560"/>
            <a:ext cx="2724912" cy="2011680"/>
          </a:xfrm>
          <a:prstGeom prst="roundRect">
            <a:avLst>
              <a:gd fmla="val 2273" name="adj"/>
            </a:avLst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6071616" y="1051560"/>
            <a:ext cx="2724912" cy="73152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6236208" y="1207008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PACKAGING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236208" y="1417320"/>
            <a:ext cx="239572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· Better · Best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236208" y="2194560"/>
            <a:ext cx="23957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Tiers defined by group size: Essential (1–9), Team (10–24), League (25+).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365760" y="3200400"/>
            <a:ext cx="8412480" cy="640080"/>
          </a:xfrm>
          <a:prstGeom prst="roundRect">
            <a:avLst>
              <a:gd fmla="val 7143" name="adj"/>
            </a:avLst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02920" y="3246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★ GOLDILOCKS TIER —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b="0" i="0" lang="en-US" sz="10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tier (10–24 members) is designed to feel like the obvious choice for the primary ICP — discounted pricing, full tracking dashboard, clone and reorder for seasonal drops.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365760" y="3950208"/>
            <a:ext cx="8412480" cy="868680"/>
          </a:xfrm>
          <a:prstGeom prst="roundRect">
            <a:avLst>
              <a:gd fmla="val 5263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48640" y="4110228"/>
            <a:ext cx="548640" cy="548640"/>
          </a:xfrm>
          <a:prstGeom prst="roundRect">
            <a:avLst>
              <a:gd fmla="val 8333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48640" y="41102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📎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234440" y="4114800"/>
            <a:ext cx="7360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ATTACHED DOCUMENT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234445" y="4279401"/>
            <a:ext cx="368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Pricing &amp; Packaging Memo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199450" y="4224545"/>
            <a:ext cx="439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Full one-pager for Finance, Sales Leadership &amp; Product Marketing — model, tiers, logic, research validation, and risks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9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9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9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Reflections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Friction points, key learnings, and the aha moment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365760" y="1051560"/>
            <a:ext cx="2724912" cy="3703320"/>
          </a:xfrm>
          <a:prstGeom prst="roundRect">
            <a:avLst>
              <a:gd fmla="val 1678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365760" y="1051560"/>
            <a:ext cx="54864" cy="37033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48640" y="1691640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FRICTION POINTS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548640" y="1920240"/>
            <a:ext cx="23591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each framework 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0"/>
          <p:cNvCxnSpPr/>
          <p:nvPr/>
        </p:nvCxnSpPr>
        <p:spPr>
          <a:xfrm>
            <a:off x="548640" y="2697480"/>
            <a:ext cx="2359152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0"/>
          <p:cNvSpPr/>
          <p:nvPr/>
        </p:nvSpPr>
        <p:spPr>
          <a:xfrm>
            <a:off x="548640" y="2788920"/>
            <a:ext cx="23591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Understanding the sequencing of competitive analysis, positioning, pricing, and messaging — they inform each other and are iterative, not linear.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218688" y="1051560"/>
            <a:ext cx="2724912" cy="3703320"/>
          </a:xfrm>
          <a:prstGeom prst="roundRect">
            <a:avLst>
              <a:gd fmla="val 1678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3218688" y="1051560"/>
            <a:ext cx="54864" cy="37033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401568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401568" y="1691640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KEY LEARNINGS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401568" y="1920240"/>
            <a:ext cx="23591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GTM motion drives everything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0"/>
          <p:cNvCxnSpPr/>
          <p:nvPr/>
        </p:nvCxnSpPr>
        <p:spPr>
          <a:xfrm>
            <a:off x="3401568" y="2697480"/>
            <a:ext cx="2359152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0"/>
          <p:cNvSpPr/>
          <p:nvPr/>
        </p:nvSpPr>
        <p:spPr>
          <a:xfrm>
            <a:off x="3401568" y="2788920"/>
            <a:ext cx="23591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Pricing model, packaging, channels, and messaging all follow once the motion is right. Workaround behaviour is the strongest signal of validated demand.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071616" y="1051560"/>
            <a:ext cx="2724912" cy="3703320"/>
          </a:xfrm>
          <a:prstGeom prst="roundRect">
            <a:avLst>
              <a:gd fmla="val 1678" name="adj"/>
            </a:avLst>
          </a:prstGeom>
          <a:solidFill>
            <a:srgbClr val="F5F5F5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071616" y="1051560"/>
            <a:ext cx="54864" cy="37033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254496" y="1188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254496" y="1691640"/>
            <a:ext cx="23591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AHA MOMENT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254496" y="1920240"/>
            <a:ext cx="235915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friction removal, not a new 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0"/>
          <p:cNvCxnSpPr/>
          <p:nvPr/>
        </p:nvCxnSpPr>
        <p:spPr>
          <a:xfrm>
            <a:off x="6254496" y="2697480"/>
            <a:ext cx="2359152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10"/>
          <p:cNvSpPr/>
          <p:nvPr/>
        </p:nvSpPr>
        <p:spPr>
          <a:xfrm>
            <a:off x="6254496" y="2788920"/>
            <a:ext cx="235915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Lululemon For Teams does not create demand — it captures demand the customer is already trying to express. That reframe shifted the entire strategy.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0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0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10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347472" y="320040"/>
            <a:ext cx="91440" cy="9144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12064" y="54864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12064" y="45720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What we are asking for from each function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7132320" y="292608"/>
            <a:ext cx="1645920" cy="292608"/>
          </a:xfrm>
          <a:prstGeom prst="roundRect">
            <a:avLst>
              <a:gd fmla="val 12500" name="adj"/>
            </a:avLst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7132320" y="29260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800">
                <a:solidFill>
                  <a:srgbClr val="FFFFFF"/>
                </a:solidFill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188720" y="114300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188720" y="1371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Model revenue at the proposed Tier 1 (8–12%) and Tier 2 (15–20%) discount ranges. Approve commissioning Conjoint Analysis to validate final percentages before launch.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57200" y="2029968"/>
            <a:ext cx="502920" cy="50292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188720" y="198424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SALES LEADERSHIP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188720" y="2212848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Align on SLG outreach prioritising organisers in the Team tier band (10–24 members). League tier becomes the upsell motion for high-volume targets identified through league partnerships.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57200" y="2871216"/>
            <a:ext cx="502920" cy="50292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457200" y="28712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188720" y="282549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MARKETING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188720" y="3054096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Foreground the Team tier as the default For Teams experience in launch messaging. Position Essential as a low-friction entry point — not the recommended state.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57200" y="3712464"/>
            <a:ext cx="502920" cy="502920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57200" y="371246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1188720" y="366674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&amp; ENGINEERING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1188720" y="3895344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Confirm scope and timeline for native For Teams experience on lululemon.com — including organiser flow, member self-serve checkout, and bulk pricing tier logic.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1"/>
          <p:cNvCxnSpPr/>
          <p:nvPr/>
        </p:nvCxnSpPr>
        <p:spPr>
          <a:xfrm>
            <a:off x="320040" y="4956048"/>
            <a:ext cx="85039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1"/>
          <p:cNvSpPr/>
          <p:nvPr/>
        </p:nvSpPr>
        <p:spPr>
          <a:xfrm>
            <a:off x="320040" y="5020056"/>
            <a:ext cx="54864" cy="54864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420624" y="499262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Lululemon For Teams  ·  GTM Strategy  ·  Confidential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183880" y="4992624"/>
            <a:ext cx="640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AAAAA"/>
                </a:solidFill>
                <a:latin typeface="Arial"/>
                <a:ea typeface="Arial"/>
                <a:cs typeface="Arial"/>
                <a:sym typeface="Arial"/>
              </a:rPr>
              <a:t>11 /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/>
          <p:nvPr/>
        </p:nvSpPr>
        <p:spPr>
          <a:xfrm>
            <a:off x="0" y="4526280"/>
            <a:ext cx="9144000" cy="45720"/>
          </a:xfrm>
          <a:prstGeom prst="rect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2"/>
          <p:cNvSpPr/>
          <p:nvPr/>
        </p:nvSpPr>
        <p:spPr>
          <a:xfrm>
            <a:off x="594360" y="1280160"/>
            <a:ext cx="109728" cy="109728"/>
          </a:xfrm>
          <a:prstGeom prst="ellipse">
            <a:avLst/>
          </a:prstGeom>
          <a:solidFill>
            <a:srgbClr val="E31837"/>
          </a:solidFill>
          <a:ln cap="flat" cmpd="sng" w="12700">
            <a:solidFill>
              <a:srgbClr val="E318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777240" y="125272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LULULEMON FOR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594360" y="17373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9436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Questions and discussion.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2"/>
          <p:cNvCxnSpPr/>
          <p:nvPr/>
        </p:nvCxnSpPr>
        <p:spPr>
          <a:xfrm>
            <a:off x="594360" y="3840480"/>
            <a:ext cx="7955280" cy="0"/>
          </a:xfrm>
          <a:prstGeom prst="straightConnector1">
            <a:avLst/>
          </a:prstGeom>
          <a:noFill/>
          <a:ln cap="flat" cmpd="sng" w="9525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2"/>
          <p:cNvSpPr/>
          <p:nvPr/>
        </p:nvSpPr>
        <p:spPr>
          <a:xfrm>
            <a:off x="594360" y="395020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888888"/>
                </a:solidFill>
              </a:rPr>
              <a:t>Ritu Bansal,</a:t>
            </a: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Senior Product Manager  ·  Lululemon For Teams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594360" y="415137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North America GTM  ·  June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400800" y="415137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1837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31837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2026-06-12T21:39:55Z</dcterms:created>
  <dc:creator>Senior PM, Lululemon For Teams</dc:creator>
</cp:coreProperties>
</file>